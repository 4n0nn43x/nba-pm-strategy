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11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750" y="957263"/>
            <a:ext cx="95250" cy="9525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50800" dir="16200000">
              <a:srgbClr val="7C3AED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314450" y="866775"/>
            <a:ext cx="30555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PLAYOFFS SCANNER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879711" y="857250"/>
            <a:ext cx="34613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DEGA · HACKATHON 2026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47750" y="3154263"/>
            <a:ext cx="3864471" cy="523875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E33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66825" y="3378101"/>
            <a:ext cx="76200" cy="76200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16200000">
              <a:srgbClr val="4ADE80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76375" y="3278088"/>
            <a:ext cx="33132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scanner · May 24, 2026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7750" y="4135338"/>
            <a:ext cx="14716125" cy="1979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800" b="1" spc="-273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Playoffs </a:t>
            </a:r>
            <a:pPr algn="l" indent="0" marL="0">
              <a:lnSpc>
                <a:spcPct val="98000"/>
              </a:lnSpc>
              <a:buNone/>
            </a:pPr>
            <a:r>
              <a:rPr lang="en-US" sz="7800" b="1" spc="-273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 </a:t>
            </a:r>
            <a:pPr algn="l" indent="0" marL="0">
              <a:lnSpc>
                <a:spcPct val="98000"/>
              </a:lnSpc>
              <a:buNone/>
            </a:pPr>
            <a:r>
              <a:rPr lang="en-US" sz="7800" b="1" spc="-273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</a:t>
            </a:r>
            <a:endParaRPr lang="en-US" sz="7800" dirty="0"/>
          </a:p>
        </p:txBody>
      </p:sp>
      <p:sp>
        <p:nvSpPr>
          <p:cNvPr id="11" name="Text 8"/>
          <p:cNvSpPr/>
          <p:nvPr/>
        </p:nvSpPr>
        <p:spPr>
          <a:xfrm>
            <a:off x="1047750" y="6419552"/>
            <a:ext cx="10791825" cy="150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85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Cross-venue arbitrage between sportsbooks and Polymarket — surfacing the gap between sharp money and retail sentiment in real time.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1047750" y="9344025"/>
            <a:ext cx="8297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to 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DEGA NBA Playoffs Prediction Market Hackathon 2026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708380" y="8888909"/>
            <a:ext cx="353187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CANON · DEGA v0.1.0 · 21 TESTS PASSING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7263"/>
            <a:ext cx="95250" cy="9525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50800" dir="16200000">
              <a:srgbClr val="7C3AED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14450" y="866775"/>
            <a:ext cx="24025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99840" y="857250"/>
            <a:ext cx="31316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 EDGE EXISTS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09725"/>
            <a:ext cx="16678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152650"/>
            <a:ext cx="147161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edge exist?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047750" y="3406080"/>
            <a:ext cx="7667625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758505"/>
            <a:ext cx="495300" cy="72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9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3550" y="3701355"/>
            <a:ext cx="719128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Sportsbooks aggregate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professional money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lines reflect experienced bettors.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50" y="4733627"/>
            <a:ext cx="7667625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086052"/>
            <a:ext cx="495300" cy="72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9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3550" y="5028902"/>
            <a:ext cx="719128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reflects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traders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prone to emotional bias and slow reaction.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47750" y="6061174"/>
            <a:ext cx="7667625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6413599"/>
            <a:ext cx="495300" cy="72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9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3550" y="6356449"/>
            <a:ext cx="719128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venues price the same event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differently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at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speeds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8346877"/>
            <a:ext cx="7667625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7388721"/>
            <a:ext cx="7667625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7741146"/>
            <a:ext cx="4953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9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3550" y="7683996"/>
            <a:ext cx="64280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structural, persistent, and measurable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72625" y="4653111"/>
            <a:ext cx="7667625" cy="3529608"/>
          </a:xfrm>
          <a:prstGeom prst="roundRect">
            <a:avLst>
              <a:gd name="adj" fmla="val 5397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7450" y="5196036"/>
            <a:ext cx="68577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77450" y="5758011"/>
            <a:ext cx="6857714" cy="1919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50" spc="-29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prediction market participants </a:t>
            </a:r>
            <a:pPr algn="l" indent="0" marL="0">
              <a:lnSpc>
                <a:spcPct val="130000"/>
              </a:lnSpc>
              <a:buNone/>
            </a:pPr>
            <a:r>
              <a:rPr lang="en-US" sz="2850" spc="-29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underprice </a:t>
            </a:r>
            <a:pPr algn="l" indent="0" marL="0">
              <a:lnSpc>
                <a:spcPct val="130000"/>
              </a:lnSpc>
              <a:buNone/>
            </a:pPr>
            <a:r>
              <a:rPr lang="en-US" sz="2850" spc="-29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 playoff teams — this scanner surfaces those gaps in </a:t>
            </a:r>
            <a:pPr algn="l" indent="0" marL="0">
              <a:lnSpc>
                <a:spcPct val="130000"/>
              </a:lnSpc>
              <a:buNone/>
            </a:pPr>
            <a:r>
              <a:rPr lang="en-US" sz="2850" spc="-29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time</a:t>
            </a:r>
            <a:pPr algn="l" indent="0" marL="0">
              <a:lnSpc>
                <a:spcPct val="130000"/>
              </a:lnSpc>
              <a:buNone/>
            </a:pPr>
            <a:r>
              <a:rPr lang="en-US" sz="2850" spc="-29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7263"/>
            <a:ext cx="95250" cy="9525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50800" dir="16200000">
              <a:srgbClr val="7C3AED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14450" y="866775"/>
            <a:ext cx="25113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THE STRATEGY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39950" y="857250"/>
            <a:ext cx="247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9-STEP 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09725"/>
            <a:ext cx="16678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152650"/>
            <a:ext cx="147161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scanner works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047750" y="3406080"/>
            <a:ext cx="5245001" cy="2245816"/>
          </a:xfrm>
          <a:prstGeom prst="roundRect">
            <a:avLst>
              <a:gd name="adj" fmla="val 6786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3975" y="3644205"/>
            <a:ext cx="48333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3975" y="4034730"/>
            <a:ext cx="48333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3975" y="4453830"/>
            <a:ext cx="483332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NBA Championship outright odds from all bookmakers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The Odds API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51" y="3406080"/>
            <a:ext cx="5245150" cy="2245816"/>
          </a:xfrm>
          <a:prstGeom prst="roundRect">
            <a:avLst>
              <a:gd name="adj" fmla="val 6786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7576" y="3644205"/>
            <a:ext cx="48334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97576" y="4034730"/>
            <a:ext cx="48334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VIG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797576" y="4453830"/>
            <a:ext cx="483348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bookmaker margin per book —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fair_prob = raw_prob / sum(raw_probs)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995100" y="3406080"/>
            <a:ext cx="5245150" cy="2245816"/>
          </a:xfrm>
          <a:prstGeom prst="roundRect">
            <a:avLst>
              <a:gd name="adj" fmla="val 6786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71325" y="3644205"/>
            <a:ext cx="48334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71325" y="4034730"/>
            <a:ext cx="48334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271325" y="4453830"/>
            <a:ext cx="483348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mean fair probability across all bookmaker sources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(min 2 required)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5880497"/>
            <a:ext cx="5245001" cy="1925836"/>
          </a:xfrm>
          <a:prstGeom prst="roundRect">
            <a:avLst>
              <a:gd name="adj" fmla="val 7913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3975" y="6118622"/>
            <a:ext cx="48333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3975" y="6509147"/>
            <a:ext cx="48333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PM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23975" y="6928247"/>
            <a:ext cx="483332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Polymarket Gamma API for active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NBA Finals championship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21351" y="5880497"/>
            <a:ext cx="5245150" cy="1925836"/>
          </a:xfrm>
          <a:prstGeom prst="roundRect">
            <a:avLst>
              <a:gd name="adj" fmla="val 7913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7576" y="6118622"/>
            <a:ext cx="48334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97576" y="6509147"/>
            <a:ext cx="48334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797576" y="6928247"/>
            <a:ext cx="483348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Fuzzy-match team names to Polymarket market questions.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995100" y="5880497"/>
            <a:ext cx="5245150" cy="1925836"/>
          </a:xfrm>
          <a:prstGeom prst="roundRect">
            <a:avLst>
              <a:gd name="adj" fmla="val 7913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71325" y="6118622"/>
            <a:ext cx="48334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271325" y="6509147"/>
            <a:ext cx="48334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EDGE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271325" y="6928247"/>
            <a:ext cx="483348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relative_edge = (fair_prob − pm_price) / pm_price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47750" y="8034933"/>
            <a:ext cx="5245001" cy="1925836"/>
          </a:xfrm>
          <a:prstGeom prst="roundRect">
            <a:avLst>
              <a:gd name="adj" fmla="val 7913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3975" y="8273058"/>
            <a:ext cx="48333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23975" y="8663583"/>
            <a:ext cx="48333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323975" y="9082683"/>
            <a:ext cx="483332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signal only if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|relative_edge| ≥ 8%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21351" y="8034933"/>
            <a:ext cx="5245150" cy="1925836"/>
          </a:xfrm>
          <a:prstGeom prst="roundRect">
            <a:avLst>
              <a:gd name="adj" fmla="val 7913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7576" y="8273058"/>
            <a:ext cx="48334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97576" y="8663583"/>
            <a:ext cx="48334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SCORE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6797576" y="9082683"/>
            <a:ext cx="483348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contextual validation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Gemini 2.5 Flash (OpenRouter)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995100" y="8034933"/>
            <a:ext cx="5245150" cy="1925836"/>
          </a:xfrm>
          <a:prstGeom prst="roundRect">
            <a:avLst>
              <a:gd name="adj" fmla="val 7913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271325" y="8273058"/>
            <a:ext cx="48334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271325" y="8663583"/>
            <a:ext cx="48334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2271325" y="9082683"/>
            <a:ext cx="483348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structured JSONL to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.canon/execution/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7263"/>
            <a:ext cx="95250" cy="9525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50800" dir="16200000">
              <a:srgbClr val="7C3AED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14450" y="866775"/>
            <a:ext cx="29099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KEY INNOVATIONS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19821" y="857250"/>
            <a:ext cx="28020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STANDARD BOTS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09725"/>
            <a:ext cx="16678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152650"/>
            <a:ext cx="147161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different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047750" y="3406080"/>
            <a:ext cx="19050" cy="602367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409700" y="3406080"/>
            <a:ext cx="49510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09700" y="3872805"/>
            <a:ext cx="4951056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 stripping, per book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409700" y="4575721"/>
            <a:ext cx="4951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BOTS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09700" y="5933926"/>
            <a:ext cx="4806851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2" name="Text 10"/>
          <p:cNvSpPr/>
          <p:nvPr/>
        </p:nvSpPr>
        <p:spPr>
          <a:xfrm>
            <a:off x="1409700" y="4966246"/>
            <a:ext cx="495105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raw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odds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biased by bookmaker margin.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09700" y="6248251"/>
            <a:ext cx="4951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09700" y="6638776"/>
            <a:ext cx="4951056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each book so probabilities sum to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true fair value before averaging.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559451" y="3406080"/>
            <a:ext cx="19050" cy="602367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921401" y="3406080"/>
            <a:ext cx="49512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21401" y="3872805"/>
            <a:ext cx="4951210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edge formula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6921401" y="4575721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DELTA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21401" y="5933926"/>
            <a:ext cx="48070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20" name="Text 18"/>
          <p:cNvSpPr/>
          <p:nvPr/>
        </p:nvSpPr>
        <p:spPr>
          <a:xfrm>
            <a:off x="6921401" y="4966246"/>
            <a:ext cx="495121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scale — a 5pp gap means different things at different price points.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21401" y="6248251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21401" y="6638776"/>
            <a:ext cx="495121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5pp gap on a 10% longshot is a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— on a 50% favourite it’s only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921401" y="7566273"/>
            <a:ext cx="4807000" cy="695325"/>
          </a:xfrm>
          <a:prstGeom prst="roundRect">
            <a:avLst>
              <a:gd name="adj" fmla="val 13699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0476" y="7747248"/>
            <a:ext cx="45130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(fair − pm) / pm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071300" y="3406080"/>
            <a:ext cx="19050" cy="602367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12433250" y="3406080"/>
            <a:ext cx="49512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433250" y="3872805"/>
            <a:ext cx="4951210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confidence scoring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12433250" y="4575721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MATH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433250" y="5933926"/>
            <a:ext cx="48070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30" name="Text 28"/>
          <p:cNvSpPr/>
          <p:nvPr/>
        </p:nvSpPr>
        <p:spPr>
          <a:xfrm>
            <a:off x="12433250" y="4966246"/>
            <a:ext cx="495121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every flagged gap equally regardless of NBA context.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433250" y="6248251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33250" y="6638776"/>
            <a:ext cx="495121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validates each signal using team form, roster, and playoff history. Returns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confidenceScore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reasoning, and risk factors.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7263"/>
            <a:ext cx="95250" cy="9525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50800" dir="16200000">
              <a:srgbClr val="7C3AED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14450" y="866775"/>
            <a:ext cx="2182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LIVE SIGNAL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399740" y="857250"/>
            <a:ext cx="3955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24, 2026 · 14:32 UTC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09725"/>
            <a:ext cx="16678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SIGNAL DETECTED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152650"/>
            <a:ext cx="147161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Spurs — +9.0% relative edge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047750" y="3406080"/>
            <a:ext cx="8300889" cy="3912691"/>
          </a:xfrm>
          <a:prstGeom prst="roundRect">
            <a:avLst>
              <a:gd name="adj" fmla="val 4382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2075" y="3682305"/>
            <a:ext cx="348572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Spurs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994154" y="3682305"/>
            <a:ext cx="1040160" cy="466725"/>
          </a:xfrm>
          <a:prstGeom prst="roundRect">
            <a:avLst>
              <a:gd name="adj" fmla="val 50000"/>
            </a:avLst>
          </a:prstGeom>
          <a:ln w="9525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4179" y="3768030"/>
            <a:ext cx="7163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62075" y="4301430"/>
            <a:ext cx="7672239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2" name="Text 10"/>
          <p:cNvSpPr/>
          <p:nvPr/>
        </p:nvSpPr>
        <p:spPr>
          <a:xfrm>
            <a:off x="1362075" y="4434780"/>
            <a:ext cx="7196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Sportsbook fair probability </a:t>
            </a:r>
            <a:pPr algn="l" indent="0" marL="0">
              <a:buNone/>
            </a:pPr>
            <a:r>
              <a:rPr lang="en-US" sz="1800" dirty="0">
                <a:solidFill>
                  <a:srgbClr val="5A5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 books, vig-stripped)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48514" y="4425255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16.9%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62075" y="4834830"/>
            <a:ext cx="7672239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5" name="Text 13"/>
          <p:cNvSpPr/>
          <p:nvPr/>
        </p:nvSpPr>
        <p:spPr>
          <a:xfrm>
            <a:off x="1362075" y="4968180"/>
            <a:ext cx="7196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price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48514" y="4958655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15.6%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62075" y="5958780"/>
            <a:ext cx="7672239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8" name="Shape 16"/>
          <p:cNvSpPr/>
          <p:nvPr/>
        </p:nvSpPr>
        <p:spPr>
          <a:xfrm>
            <a:off x="1362075" y="5368230"/>
            <a:ext cx="7672239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9" name="Text 17"/>
          <p:cNvSpPr/>
          <p:nvPr/>
        </p:nvSpPr>
        <p:spPr>
          <a:xfrm>
            <a:off x="1362075" y="5530155"/>
            <a:ext cx="7078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edge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34065" y="5492055"/>
            <a:ext cx="8764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+9.0%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729639" y="3406080"/>
            <a:ext cx="7510462" cy="3912691"/>
          </a:xfrm>
          <a:prstGeom prst="roundRect">
            <a:avLst>
              <a:gd name="adj" fmla="val 4382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43964" y="4072830"/>
            <a:ext cx="6881813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43964" y="3644205"/>
            <a:ext cx="19291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Assessment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948047" y="3644205"/>
            <a:ext cx="40970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2.5 Flash · OpenRouter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43964" y="4272855"/>
            <a:ext cx="16954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53714" y="4196655"/>
            <a:ext cx="78804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043964" y="4794796"/>
            <a:ext cx="241979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578060" y="4737646"/>
            <a:ext cx="2347020" cy="434280"/>
          </a:xfrm>
          <a:prstGeom prst="roundRect">
            <a:avLst>
              <a:gd name="adj" fmla="val 13160"/>
            </a:avLst>
          </a:prstGeom>
          <a:solidFill>
            <a:srgbClr val="F87171">
              <a:alpha val="1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2711410" y="4794796"/>
            <a:ext cx="21565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90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SKIP_TOO_RISKY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43964" y="5286226"/>
            <a:ext cx="16954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53714" y="5286226"/>
            <a:ext cx="5224224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“Spurs are a longshot. Small relative edge near threshold. Low Polymarket liquidity may exaggerate the gap.”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43964" y="6394847"/>
            <a:ext cx="16954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53714" y="6394847"/>
            <a:ext cx="522422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edge near threshold · young team in playoffs · thin market depth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47750" y="7623572"/>
            <a:ext cx="16192351" cy="1806178"/>
          </a:xfrm>
          <a:prstGeom prst="roundRect">
            <a:avLst>
              <a:gd name="adj" fmla="val 7383"/>
            </a:avLst>
          </a:prstGeom>
          <a:solidFill>
            <a:srgbClr val="0A0C12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43025" y="8215908"/>
            <a:ext cx="1606985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288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.CANON/EXECUTION/SIGNALS.JSONL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43025" y="8732044"/>
            <a:ext cx="213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80245" y="8732044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"action"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577554" y="8732044"/>
            <a:ext cx="213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714774" y="8732044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"SIGNAL"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812084" y="8732044"/>
            <a:ext cx="3506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086523" y="8732044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"team"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909542" y="8732044"/>
            <a:ext cx="213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046762" y="8732044"/>
            <a:ext cx="26843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"San Antonio Spurs"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652891" y="8732044"/>
            <a:ext cx="3506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927330" y="8732044"/>
            <a:ext cx="2270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"sportsbookProb"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121950" y="8732044"/>
            <a:ext cx="213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259169" y="8732044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0.169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944969" y="8732044"/>
            <a:ext cx="3506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219408" y="8732044"/>
            <a:ext cx="24080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"polymarketPrice"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551247" y="8732044"/>
            <a:ext cx="213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3688467" y="8732044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0.156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4374267" y="8732044"/>
            <a:ext cx="3506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343025" y="9086255"/>
            <a:ext cx="19965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"relativeEdge"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263354" y="9086255"/>
            <a:ext cx="213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3400574" y="9086255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0.090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086374" y="9086255"/>
            <a:ext cx="3506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4360813" y="9086255"/>
            <a:ext cx="2270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"signalStrength"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555432" y="9086255"/>
            <a:ext cx="213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692652" y="9086255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"weak"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515671" y="9086255"/>
            <a:ext cx="3506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790111" y="9086255"/>
            <a:ext cx="624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"ai"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8338840" y="9086255"/>
            <a:ext cx="3506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:{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8613279" y="9086255"/>
            <a:ext cx="24080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"confidenceScore"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0945118" y="9086255"/>
            <a:ext cx="213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1082338" y="9086255"/>
            <a:ext cx="624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1631067" y="9086255"/>
            <a:ext cx="3506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1905506" y="9086255"/>
            <a:ext cx="2270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"recommendation"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4100125" y="9086255"/>
            <a:ext cx="2134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4237345" y="9086255"/>
            <a:ext cx="2270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"SKIP_TOO_RISKY"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343025" y="9086255"/>
            <a:ext cx="15824280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...}}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7263"/>
            <a:ext cx="95250" cy="9525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50800" dir="16200000">
              <a:srgbClr val="7C3AED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14450" y="866775"/>
            <a:ext cx="22272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TECH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79711" y="857250"/>
            <a:ext cx="34613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CANON · DEGA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09725"/>
            <a:ext cx="16678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152650"/>
            <a:ext cx="147161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Canon on DEGA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047750" y="3406080"/>
            <a:ext cx="6557963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644205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81350" y="3625155"/>
            <a:ext cx="45570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22 + TypeScript 5.8 </a:t>
            </a:r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(ESM)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129980"/>
            <a:ext cx="6557963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368105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ODDS SOURCE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81350" y="4349055"/>
            <a:ext cx="45570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Odds API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4853880"/>
            <a:ext cx="6557963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092005"/>
            <a:ext cx="1981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MKT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81350" y="5072955"/>
            <a:ext cx="45570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Gamma API </a:t>
            </a:r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(read-only)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5854005"/>
            <a:ext cx="6557963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609213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81350" y="6073080"/>
            <a:ext cx="45570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→ Gemini 2.5 Flash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" y="6587430"/>
            <a:ext cx="6557963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6825555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81350" y="6806505"/>
            <a:ext cx="45570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 by DEGA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7311330"/>
            <a:ext cx="6557963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7568505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181350" y="7530405"/>
            <a:ext cx="45570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— </a:t>
            </a:r>
            <a:pPr algn="l" indent="0" marL="0"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21 </a:t>
            </a:r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8797230"/>
            <a:ext cx="6557963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7750" y="8073330"/>
            <a:ext cx="6557963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8311455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MGR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181350" y="8292405"/>
            <a:ext cx="45570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367712" y="3406080"/>
            <a:ext cx="8872538" cy="6023670"/>
          </a:xfrm>
          <a:prstGeom prst="roundRect">
            <a:avLst>
              <a:gd name="adj" fmla="val 2846"/>
            </a:avLst>
          </a:prstGeom>
          <a:solidFill>
            <a:srgbClr val="161924"/>
          </a:solidFill>
          <a:ln w="9525">
            <a:solidFill>
              <a:srgbClr val="2326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20138" y="3758505"/>
            <a:ext cx="84127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SPORTSBOOK PATH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720138" y="4149030"/>
            <a:ext cx="2392263" cy="598140"/>
          </a:xfrm>
          <a:prstGeom prst="roundRect">
            <a:avLst>
              <a:gd name="adj" fmla="val 15924"/>
            </a:avLst>
          </a:prstGeom>
          <a:ln w="9525">
            <a:solidFill>
              <a:srgbClr val="2E33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4913" y="4310955"/>
            <a:ext cx="218271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Odds API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226701" y="4286101"/>
            <a:ext cx="342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1607701" y="4149030"/>
            <a:ext cx="2392412" cy="598140"/>
          </a:xfrm>
          <a:prstGeom prst="roundRect">
            <a:avLst>
              <a:gd name="adj" fmla="val 15924"/>
            </a:avLst>
          </a:prstGeom>
          <a:solidFill>
            <a:srgbClr val="7C3AED">
              <a:alpha val="6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12476" y="4310955"/>
            <a:ext cx="218286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 Stripper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114413" y="4286101"/>
            <a:ext cx="342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4495413" y="4149030"/>
            <a:ext cx="2392412" cy="598140"/>
          </a:xfrm>
          <a:prstGeom prst="roundRect">
            <a:avLst>
              <a:gd name="adj" fmla="val 15924"/>
            </a:avLst>
          </a:prstGeom>
          <a:solidFill>
            <a:srgbClr val="7C3AED">
              <a:alpha val="6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600188" y="4310955"/>
            <a:ext cx="218286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Prob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720138" y="4918621"/>
            <a:ext cx="84127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POLYMARKET PATH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720138" y="5309146"/>
            <a:ext cx="3836194" cy="598140"/>
          </a:xfrm>
          <a:prstGeom prst="roundRect">
            <a:avLst>
              <a:gd name="adj" fmla="val 15924"/>
            </a:avLst>
          </a:prstGeom>
          <a:ln w="9525">
            <a:solidFill>
              <a:srgbClr val="2E33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05470" y="5471071"/>
            <a:ext cx="366553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Gamma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670631" y="5446216"/>
            <a:ext cx="342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3051631" y="5309146"/>
            <a:ext cx="3836194" cy="598140"/>
          </a:xfrm>
          <a:prstGeom prst="roundRect">
            <a:avLst>
              <a:gd name="adj" fmla="val 15924"/>
            </a:avLst>
          </a:prstGeom>
          <a:solidFill>
            <a:srgbClr val="7C3AED">
              <a:alpha val="6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136963" y="5471071"/>
            <a:ext cx="366553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Matcher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720138" y="6135886"/>
            <a:ext cx="8167687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46" name="Text 44"/>
          <p:cNvSpPr/>
          <p:nvPr/>
        </p:nvSpPr>
        <p:spPr>
          <a:xfrm>
            <a:off x="8720138" y="6374011"/>
            <a:ext cx="84127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EDGE ENGINE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720138" y="6764536"/>
            <a:ext cx="2392263" cy="872430"/>
          </a:xfrm>
          <a:prstGeom prst="roundRect">
            <a:avLst>
              <a:gd name="adj" fmla="val 10918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24913" y="6926461"/>
            <a:ext cx="218271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Prob + Market Matcher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226701" y="7038826"/>
            <a:ext cx="342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1607701" y="6764536"/>
            <a:ext cx="2392412" cy="872430"/>
          </a:xfrm>
          <a:prstGeom prst="roundRect">
            <a:avLst>
              <a:gd name="adj" fmla="val 10918"/>
            </a:avLst>
          </a:prstGeom>
          <a:solidFill>
            <a:srgbClr val="7C3AED">
              <a:alpha val="6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712476" y="6926461"/>
            <a:ext cx="218286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Edge Engine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4114413" y="7038826"/>
            <a:ext cx="342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14495413" y="6901607"/>
            <a:ext cx="2392412" cy="598140"/>
          </a:xfrm>
          <a:prstGeom prst="roundRect">
            <a:avLst>
              <a:gd name="adj" fmla="val 15924"/>
            </a:avLst>
          </a:prstGeom>
          <a:solidFill>
            <a:srgbClr val="7C3AED">
              <a:alpha val="6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600188" y="7063532"/>
            <a:ext cx="218286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Gate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720138" y="7808416"/>
            <a:ext cx="84127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VALIDATE &amp; LOG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8720138" y="8336012"/>
            <a:ext cx="2392263" cy="598140"/>
          </a:xfrm>
          <a:prstGeom prst="roundRect">
            <a:avLst>
              <a:gd name="adj" fmla="val 15924"/>
            </a:avLst>
          </a:prstGeom>
          <a:solidFill>
            <a:srgbClr val="7C3AED">
              <a:alpha val="6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24913" y="8497937"/>
            <a:ext cx="218271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Gate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1226701" y="8473232"/>
            <a:ext cx="342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11607701" y="8198941"/>
            <a:ext cx="2392412" cy="872430"/>
          </a:xfrm>
          <a:prstGeom prst="roundRect">
            <a:avLst>
              <a:gd name="adj" fmla="val 10918"/>
            </a:avLst>
          </a:prstGeom>
          <a:solidFill>
            <a:srgbClr val="7C3AED">
              <a:alpha val="6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712476" y="8360866"/>
            <a:ext cx="218286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Scorer (OpenRouter)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4114413" y="8473232"/>
            <a:ext cx="342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14495413" y="8336012"/>
            <a:ext cx="2392412" cy="598140"/>
          </a:xfrm>
          <a:prstGeom prst="roundRect">
            <a:avLst>
              <a:gd name="adj" fmla="val 15924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600188" y="8497937"/>
            <a:ext cx="218286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Logger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7263"/>
            <a:ext cx="95250" cy="9525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50800" dir="16200000">
              <a:srgbClr val="7C3AED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14450" y="866775"/>
            <a:ext cx="26784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RESULTS &amp; NEXT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99840" y="857250"/>
            <a:ext cx="31316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· MAY 24,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09725"/>
            <a:ext cx="16678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152650"/>
            <a:ext cx="147161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047750" y="3406080"/>
            <a:ext cx="92583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853755"/>
            <a:ext cx="647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47850" y="3663255"/>
            <a:ext cx="26334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Spurs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847850" y="4063305"/>
            <a:ext cx="43167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Sportsbook 16.9% · Polymarket 15.6%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91250" y="3825180"/>
            <a:ext cx="1790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+9.0%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134350" y="3853755"/>
            <a:ext cx="2171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SIGNAL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4587180"/>
            <a:ext cx="92583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172968"/>
            <a:ext cx="647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47850" y="4844355"/>
            <a:ext cx="19426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OKC Thunder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847850" y="5244405"/>
            <a:ext cx="431673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Over-valued on Polymarket — retail hype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91250" y="5144393"/>
            <a:ext cx="1790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+1.8%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134350" y="5172968"/>
            <a:ext cx="2171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OVER-VALUED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6044505"/>
            <a:ext cx="92583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6492180"/>
            <a:ext cx="647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47850" y="6301680"/>
            <a:ext cx="15056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 Knicks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847850" y="6701730"/>
            <a:ext cx="43167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Efficiently priced — market is tight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91250" y="6463605"/>
            <a:ext cx="1790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3%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134350" y="6492180"/>
            <a:ext cx="2171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EFFICIENT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7750" y="8406705"/>
            <a:ext cx="92583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7750" y="7225605"/>
            <a:ext cx="92583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7673280"/>
            <a:ext cx="647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847850" y="7482780"/>
            <a:ext cx="28147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 Cavaliers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847850" y="7882830"/>
            <a:ext cx="43167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Efficiently priced — market is tight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91250" y="7644705"/>
            <a:ext cx="1790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B8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134350" y="7673280"/>
            <a:ext cx="2171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5A5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EFFICIENT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8682930"/>
            <a:ext cx="9258300" cy="1101030"/>
          </a:xfrm>
          <a:prstGeom prst="roundRect">
            <a:avLst>
              <a:gd name="adj" fmla="val 6921"/>
            </a:avLst>
          </a:prstGeom>
          <a:solidFill>
            <a:srgbClr val="16192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7750" y="9774436"/>
            <a:ext cx="92583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7750" y="8682930"/>
            <a:ext cx="92583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7750" y="8682930"/>
            <a:ext cx="28575" cy="110103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10296525" y="8682930"/>
            <a:ext cx="9525" cy="1101030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37" name="Text 35"/>
          <p:cNvSpPr/>
          <p:nvPr/>
        </p:nvSpPr>
        <p:spPr>
          <a:xfrm>
            <a:off x="1343025" y="8902005"/>
            <a:ext cx="896454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8D98"/>
                </a:solidFill>
                <a:highlight>
                  <a:srgbClr val="1619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Live scan of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remaining Conference Finals teams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8D98"/>
                </a:solidFill>
                <a:highlight>
                  <a:srgbClr val="1619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active signal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8D98"/>
                </a:solidFill>
                <a:highlight>
                  <a:srgbClr val="1619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detected at the 8% gate.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068050" y="3406080"/>
            <a:ext cx="63573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068050" y="3910905"/>
            <a:ext cx="61722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40" name="Text 38"/>
          <p:cNvSpPr/>
          <p:nvPr/>
        </p:nvSpPr>
        <p:spPr>
          <a:xfrm>
            <a:off x="11068050" y="4091880"/>
            <a:ext cx="21386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377166" y="4091880"/>
            <a:ext cx="603897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 on historical data to measure edge resolution rate.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068050" y="4903291"/>
            <a:ext cx="61722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43" name="Text 41"/>
          <p:cNvSpPr/>
          <p:nvPr/>
        </p:nvSpPr>
        <p:spPr>
          <a:xfrm>
            <a:off x="11068050" y="5084266"/>
            <a:ext cx="21386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377166" y="5084266"/>
            <a:ext cx="603897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game-day momentum signals — injury reports, lineup changes.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068050" y="6888063"/>
            <a:ext cx="61722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68050" y="5895677"/>
            <a:ext cx="6172200" cy="9525"/>
          </a:xfrm>
          <a:prstGeom prst="rect">
            <a:avLst/>
          </a:prstGeom>
          <a:solidFill>
            <a:srgbClr val="232636"/>
          </a:solidFill>
          <a:ln/>
        </p:spPr>
      </p:sp>
      <p:sp>
        <p:nvSpPr>
          <p:cNvPr id="47" name="Text 45"/>
          <p:cNvSpPr/>
          <p:nvPr/>
        </p:nvSpPr>
        <p:spPr>
          <a:xfrm>
            <a:off x="11068050" y="6076652"/>
            <a:ext cx="21386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1377166" y="6076652"/>
            <a:ext cx="603897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other prediction market platforms — Kalshi, Manifold.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068050" y="7278588"/>
            <a:ext cx="6172200" cy="2068711"/>
          </a:xfrm>
          <a:prstGeom prst="roundRect">
            <a:avLst>
              <a:gd name="adj" fmla="val 7367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420475" y="7592913"/>
            <a:ext cx="5652516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11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scanner doesn't guess — </a:t>
            </a:r>
            <a:pPr algn="l" indent="0" marL="0">
              <a:lnSpc>
                <a:spcPct val="135000"/>
              </a:lnSpc>
              <a:buNone/>
            </a:pPr>
            <a:r>
              <a:rPr lang="en-US" sz="2100" spc="-11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measures. </a:t>
            </a:r>
            <a:pPr algn="l" indent="0" marL="0">
              <a:lnSpc>
                <a:spcPct val="135000"/>
              </a:lnSpc>
              <a:buNone/>
            </a:pPr>
            <a:r>
              <a:rPr lang="en-US" sz="2100" spc="-11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 is grounded in vig-free probability math and validated by AI context reasoning.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2026-05-24T12:53:35Z</dcterms:created>
  <dcterms:modified xsi:type="dcterms:W3CDTF">2026-05-24T12:53:35Z</dcterms:modified>
</cp:coreProperties>
</file>